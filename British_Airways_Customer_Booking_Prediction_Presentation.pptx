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Sales Channel vs Booking Completion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Internet</c:v>
                </c:pt>
                <c:pt idx="1">
                  <c:v>Mobile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15.49</c:v>
                </c:pt>
                <c:pt idx="1">
                  <c:v>10.98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Trip Type vs Booking Completion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RoundTrip</c:v>
                </c:pt>
                <c:pt idx="1">
                  <c:v>OneWay</c:v>
                </c:pt>
                <c:pt idx="2">
                  <c:v>CircleTrip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15.1</c:v>
                </c:pt>
                <c:pt idx="1">
                  <c:v>5.18</c:v>
                </c:pt>
                <c:pt idx="2">
                  <c:v>4.31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Features from Random Forest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Purchase lead</c:v>
                </c:pt>
                <c:pt idx="1">
                  <c:v>Flight hour</c:v>
                </c:pt>
                <c:pt idx="2">
                  <c:v>Length of stay</c:v>
                </c:pt>
                <c:pt idx="3">
                  <c:v>Num passengers</c:v>
                </c:pt>
                <c:pt idx="4">
                  <c:v>Flight duration</c:v>
                </c:pt>
                <c:pt idx="5">
                  <c:v>Origin: Malaysia</c:v>
                </c:pt>
                <c:pt idx="6">
                  <c:v>In-flight meals</c:v>
                </c:pt>
                <c:pt idx="7">
                  <c:v>Origin: Australia</c:v>
                </c:pt>
                <c:pt idx="8">
                  <c:v>Preferred seat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0.145546</c:v>
                </c:pt>
                <c:pt idx="1">
                  <c:v>0.121826</c:v>
                </c:pt>
                <c:pt idx="2">
                  <c:v>0.110386</c:v>
                </c:pt>
                <c:pt idx="3">
                  <c:v>0.047213</c:v>
                </c:pt>
                <c:pt idx="4">
                  <c:v>0.036436</c:v>
                </c:pt>
                <c:pt idx="5">
                  <c:v>0.030931</c:v>
                </c:pt>
                <c:pt idx="6">
                  <c:v>0.023205</c:v>
                </c:pt>
                <c:pt idx="7">
                  <c:v>0.021105</c:v>
                </c:pt>
                <c:pt idx="8">
                  <c:v>0.018205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6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British Airways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B4DCFF"/>
                </a:solidFill>
              </a:defRPr>
            </a:pPr>
            <a:r>
              <a:t>Customer Booking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Data Science &amp;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Predicting which customers are likely to complete a 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2DCE6"/>
                </a:solidFill>
              </a:defRPr>
            </a:pPr>
            <a:r>
              <a:t>Prepared by Alina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64D"/>
                </a:solidFill>
              </a:defRPr>
            </a:pPr>
            <a:r>
              <a:t>Business 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Customers may search or begin a booking without completing the purchase.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Predicting booking completion can help identify higher-potential customers.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Customer booking behaviour and flight-related attributes can be used as predictive signals.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Objective: build a binary classification model and identify the key drivers of booking completion.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83480"/>
            <a:ext cx="10241280" cy="731520"/>
          </a:xfrm>
          <a:prstGeom prst="roundRect">
            <a:avLst/>
          </a:prstGeom>
          <a:solidFill>
            <a:srgbClr val="EBF3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5193792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264D"/>
                </a:solidFill>
              </a:defRPr>
            </a:pPr>
            <a:r>
              <a:t>Business value: better customer targeting, more focused engagement, and data-driven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64D"/>
                </a:solidFill>
              </a:defRPr>
            </a:pPr>
            <a:r>
              <a:t>Dataset &amp; Key EDA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377440" cy="1234440"/>
          </a:xfrm>
          <a:prstGeom prst="roundRect">
            <a:avLst/>
          </a:prstGeom>
          <a:solidFill>
            <a:srgbClr val="EBF3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9903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5BAA"/>
                </a:solidFill>
              </a:defRPr>
            </a:pPr>
            <a:r>
              <a:t>50,000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928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973"/>
                </a:solidFill>
              </a:defRPr>
            </a:pPr>
            <a:r>
              <a:t>Original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234440"/>
            <a:ext cx="2377440" cy="1234440"/>
          </a:xfrm>
          <a:prstGeom prst="roundRect">
            <a:avLst/>
          </a:prstGeom>
          <a:solidFill>
            <a:srgbClr val="EBF3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39903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5BAA"/>
                </a:solidFill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8928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973"/>
                </a:solidFill>
              </a:defRPr>
            </a:pPr>
            <a:r>
              <a:t>Original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34440"/>
            <a:ext cx="2377440" cy="1234440"/>
          </a:xfrm>
          <a:prstGeom prst="roundRect">
            <a:avLst/>
          </a:prstGeom>
          <a:solidFill>
            <a:srgbClr val="EBF3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39903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5BAA"/>
                </a:solidFill>
              </a:defRPr>
            </a:pPr>
            <a:r>
              <a:t>7,478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8928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973"/>
                </a:solidFill>
              </a:defRPr>
            </a:pPr>
            <a:r>
              <a:t>Completed bookings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234440"/>
            <a:ext cx="2377440" cy="1234440"/>
          </a:xfrm>
          <a:prstGeom prst="roundRect">
            <a:avLst/>
          </a:prstGeom>
          <a:solidFill>
            <a:srgbClr val="EBF3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39903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5BAA"/>
                </a:solidFill>
              </a:defRPr>
            </a:pPr>
            <a:r>
              <a:t>14.99%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8928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973"/>
                </a:solidFill>
              </a:defRPr>
            </a:pPr>
            <a:r>
              <a:t>Completion rate after cleaning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7180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After removing 719 duplicate rows, the working dataset contained 49,281 records.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Target distribution was imbalanced: approximately 85% not completed and 15% completed.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Categorical features included sales channel, trip type, route, and booking origin.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Numeric features included purchase lead, length of stay, flight hour, and flight duration.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64D"/>
                </a:solidFill>
              </a:defRPr>
            </a:pPr>
            <a:r>
              <a:t>Customer Booking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973"/>
                </a:solidFill>
              </a:defRPr>
            </a:pPr>
            <a:r>
              <a:t>Completion rates from the completed EDA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25880"/>
          <a:ext cx="52120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63640" y="1325880"/>
          <a:ext cx="521208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264D"/>
                </a:solidFill>
              </a:defRPr>
            </a:pPr>
            <a:r>
              <a:t>Additional patterns: customers requesting preferred seats, extra baggage, or in-flight meals showed higher completion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64D"/>
                </a:solidFill>
              </a:defRPr>
            </a:pPr>
            <a:r>
              <a:t>Machine Learning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148840" cy="1417320"/>
          </a:xfrm>
          <a:prstGeom prst="roundRect">
            <a:avLst/>
          </a:prstGeom>
          <a:solidFill>
            <a:srgbClr val="EBF3F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264D"/>
                </a:solidFill>
              </a:defRPr>
            </a:pPr>
            <a:r>
              <a:t>Raw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</a:defRPr>
            </a:pPr>
            <a:r>
              <a:t>Load and inspect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0904" y="2331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5BAA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828800"/>
            <a:ext cx="2148840" cy="1417320"/>
          </a:xfrm>
          <a:prstGeom prst="roundRect">
            <a:avLst/>
          </a:prstGeom>
          <a:solidFill>
            <a:srgbClr val="EBF3F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20574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264D"/>
                </a:solidFill>
              </a:defRPr>
            </a:pPr>
            <a:r>
              <a:t>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799" y="251460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</a:defRPr>
            </a:pPr>
            <a:r>
              <a:t>Remove duplicates and prepare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3" y="2331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5BAA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1828800"/>
            <a:ext cx="2148840" cy="1417320"/>
          </a:xfrm>
          <a:prstGeom prst="roundRect">
            <a:avLst/>
          </a:prstGeom>
          <a:solidFill>
            <a:srgbClr val="EBF3F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799" y="20574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264D"/>
                </a:solidFill>
              </a:defRPr>
            </a:pPr>
            <a:r>
              <a:t>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51460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</a:defRPr>
            </a:pPr>
            <a:r>
              <a:t>One-hot encode categorical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24344" y="2331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5BAA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828800"/>
            <a:ext cx="2148840" cy="1417320"/>
          </a:xfrm>
          <a:prstGeom prst="roundRect">
            <a:avLst/>
          </a:prstGeom>
          <a:solidFill>
            <a:srgbClr val="EBF3F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20574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264D"/>
                </a:solidFill>
              </a:defRPr>
            </a:pPr>
            <a: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51460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</a:defRPr>
            </a:pPr>
            <a:r>
              <a:t>Random Forest classifier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6063" y="2331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5BAA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828800"/>
            <a:ext cx="2148840" cy="1417320"/>
          </a:xfrm>
          <a:prstGeom prst="roundRect">
            <a:avLst/>
          </a:prstGeom>
          <a:solidFill>
            <a:srgbClr val="EBF3F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20574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264D"/>
                </a:solidFill>
              </a:defRPr>
            </a:pPr>
            <a:r>
              <a:t>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51460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</a:defRPr>
            </a:pPr>
            <a:r>
              <a:t>Accuracy, precision, recall, F1, ROC-AUC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690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Problem type: binary classification.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Train/test split: 39,424 training rows and 9,857 test rows after preprocessing.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Processed feature matrix: 901 features.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Model used: RandomForestClassifier with 200 trees and random_state=42.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64D"/>
                </a:solidFill>
              </a:defRPr>
            </a:pPr>
            <a:r>
              <a:t>Feature Importance &amp; Business Insights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58521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12280" y="150876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Purchase lead was the strongest feature in the model.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Flight hour and length of stay were also highly informative.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Route and booking origin captured meaningful geographic and behavioural differences.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These signals can support targeted campaigns and customer engagement strategies.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64D"/>
                </a:solidFill>
              </a:defRPr>
            </a:pPr>
            <a:r>
              <a:t>Conclusion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Completed an end-to-end Data Science workflow: data cleaning, EDA, preprocessing, modeling, and interpretation.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EDA showed different booking completion patterns across channels, trip types, customer preferences, routes, and origins.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The Random Forest model achieved test ROC-AUC of 0.770 and mean cross-validation ROC-AUC of 0.778.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Use prediction scores to prioritize customer engagement and conversion efforts.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Tailor offers and communication based on route, origin, purchase timing, and customer preferences.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Monitor model performance and retrain as customer behaviour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264D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