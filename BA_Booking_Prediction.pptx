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booking_complete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F44"/>
              </a:solidFill>
              <a:effectLst/>
            </c:spPr>
          </c:dPt>
          <c:dPt>
            <c:idx val="1"/>
            <c:bubble3D val="0"/>
            <c:spPr>
              <a:solidFill>
                <a:srgbClr val="E2231A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Completed</c:v>
                </c:pt>
                <c:pt idx="1">
                  <c:v>Completed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0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F4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1F44"/>
                </a:solidFill>
                <a:latin typeface="Arial"/>
              </a:rPr>
              <a:t>Completion Rate by Preference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D7E3F4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50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Extra baggage</c:v>
                  </c:pt>
                  <c:pt idx="1">
                    <c:v>Preferred seat</c:v>
                  </c:pt>
                  <c:pt idx="2">
                    <c:v>In-flight meal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11.53</c:v>
                </c:pt>
                <c:pt idx="1">
                  <c:v>13.84</c:v>
                </c:pt>
                <c:pt idx="2">
                  <c:v>14.18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E2231A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50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Extra baggage</c:v>
                  </c:pt>
                  <c:pt idx="1">
                    <c:v>Preferred seat</c:v>
                  </c:pt>
                  <c:pt idx="2">
                    <c:v>In-flight meal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16.72</c:v>
                </c:pt>
                <c:pt idx="1">
                  <c:v>17.76</c:v>
                </c:pt>
                <c:pt idx="2">
                  <c:v>16.09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450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DF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0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0A1F4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50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Circle Trip</c:v>
                  </c:pt>
                  <c:pt idx="1">
                    <c:v>One Way</c:v>
                  </c:pt>
                  <c:pt idx="2">
                    <c:v>Round Trip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4.31</c:v>
                </c:pt>
                <c:pt idx="1">
                  <c:v>5.18</c:v>
                </c:pt>
                <c:pt idx="2">
                  <c:v>15.1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4450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12700" cap="flat">
              <a:solidFill>
                <a:srgbClr val="DF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E2231A"/>
            </a:solidFill>
            <a:ln w="38100" cap="flat">
              <a:solidFill>
                <a:srgbClr val="E2231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06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231A"/>
              </a:solidFill>
              <a:ln w="9525" cap="flat">
                <a:solidFill>
                  <a:srgbClr val="E223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0-7d</c:v>
                  </c:pt>
                  <c:pt idx="1">
                    <c:v>8-30d</c:v>
                  </c:pt>
                  <c:pt idx="2">
                    <c:v>31-90d</c:v>
                  </c:pt>
                  <c:pt idx="3">
                    <c:v>91-180d</c:v>
                  </c:pt>
                  <c:pt idx="4">
                    <c:v>180d+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17.34</c:v>
                </c:pt>
                <c:pt idx="1">
                  <c:v>16.12</c:v>
                </c:pt>
                <c:pt idx="2">
                  <c:v>14.6</c:v>
                </c:pt>
                <c:pt idx="3">
                  <c:v>13.5</c:v>
                </c:pt>
                <c:pt idx="4">
                  <c:v>14.22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4506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10"/>
        </c:scaling>
        <c:delete val="0"/>
        <c:axPos val="l"/>
        <c:majorGridlines>
          <c:spPr>
            <a:ln w="12700" cap="flat">
              <a:solidFill>
                <a:srgbClr val="DF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E2231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New Zealand</c:v>
                  </c:pt>
                  <c:pt idx="1">
                    <c:v>South Korea</c:v>
                  </c:pt>
                  <c:pt idx="2">
                    <c:v>Japan</c:v>
                  </c:pt>
                  <c:pt idx="3">
                    <c:v>China</c:v>
                  </c:pt>
                  <c:pt idx="4">
                    <c:v>Thailand</c:v>
                  </c:pt>
                  <c:pt idx="5">
                    <c:v>Indonesia</c:v>
                  </c:pt>
                  <c:pt idx="6">
                    <c:v>Malaysia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10.2</c:v>
                </c:pt>
                <c:pt idx="2">
                  <c:v>12.36</c:v>
                </c:pt>
                <c:pt idx="3">
                  <c:v>20.83</c:v>
                </c:pt>
                <c:pt idx="4">
                  <c:v>23.28</c:v>
                </c:pt>
                <c:pt idx="5">
                  <c:v>26.28</c:v>
                </c:pt>
                <c:pt idx="6">
                  <c:v>34.5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D7E3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D7E3F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F4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D7E3F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A1F44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Meals wanted</c:v>
                  </c:pt>
                  <c:pt idx="1">
                    <c:v>Booking: Malaysia</c:v>
                  </c:pt>
                  <c:pt idx="2">
                    <c:v>Flight duration</c:v>
                  </c:pt>
                  <c:pt idx="3">
                    <c:v>Passengers</c:v>
                  </c:pt>
                  <c:pt idx="4">
                    <c:v>Length of stay</c:v>
                  </c:pt>
                  <c:pt idx="5">
                    <c:v>Flight hour</c:v>
                  </c:pt>
                  <c:pt idx="6">
                    <c:v>Purchase lead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0.023</c:v>
                </c:pt>
                <c:pt idx="1">
                  <c:v>0.031</c:v>
                </c:pt>
                <c:pt idx="2">
                  <c:v>0.036</c:v>
                </c:pt>
                <c:pt idx="3">
                  <c:v>0.047</c:v>
                </c:pt>
                <c:pt idx="4">
                  <c:v>0.11</c:v>
                </c:pt>
                <c:pt idx="5">
                  <c:v>0.122</c:v>
                </c:pt>
                <c:pt idx="6">
                  <c:v>0.146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50" u="none">
                  <a:solidFill>
                    <a:srgbClr val="0A1F44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D7E3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7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D7E3F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F4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097280"/>
            <a:ext cx="3657600" cy="3657600"/>
          </a:xfrm>
          <a:prstGeom prst="ellipse">
            <a:avLst/>
          </a:prstGeom>
          <a:solidFill>
            <a:srgbClr val="132A5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303520"/>
            <a:ext cx="2926080" cy="2926080"/>
          </a:xfrm>
          <a:prstGeom prst="ellipse">
            <a:avLst/>
          </a:prstGeom>
          <a:solidFill>
            <a:srgbClr val="132A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CASE STUDY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Booking Completion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approach to understanding why British Airways customers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or complete their bookings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1280160" cy="0"/>
          </a:xfrm>
          <a:prstGeom prst="line">
            <a:avLst/>
          </a:prstGeom>
          <a:noFill/>
          <a:ln w="38100">
            <a:solidFill>
              <a:srgbClr val="E223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booking records   •   14 features   •   Random Forest classifier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predict, before checkout, which customers will complete their booking?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D7E3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367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673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booking records across 14 columns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D7E3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78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49,281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514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remaining after removing 719 duplicate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502920" cy="502920"/>
          </a:xfrm>
          <a:prstGeom prst="ellipse">
            <a:avLst/>
          </a:prstGeom>
          <a:solidFill>
            <a:srgbClr val="D7E3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19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355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used to predict the target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D7E3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41970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one-hot encoding route &amp; origin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Class Balance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537960" y="1965960"/>
          <a:ext cx="2834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9464040" y="2606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~15% of bookings are completed — a strongly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target that shapes every modeling choice.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Preferences Drive Completion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choices during booking correlate with a higher chance of finishing checkout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D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26680" y="18653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+5.2 pts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baggage selection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98080" y="30175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D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26680" y="31455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+3.9 pts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seat selection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42976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7BD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26680" y="44256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+1.9 pts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4919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meal selection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Type &amp; Timing Patterns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trips convert far better than one-way or circle trips; booking lead time has a smaller, steady effect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Rate by Trip Type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Rate by Purchase Lead Time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87452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early (within a week) </a:t>
            </a:r>
            <a:pPr indent="0" marL="0">
              <a:buNone/>
            </a:pPr>
            <a:r>
              <a:rPr lang="en-US" sz="12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 the highest completion rate (17.3%)</a:t>
            </a:r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travelers with an imminent trip are more decisive at checkout.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High-Cardinality Challenge: Route &amp; Origin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799 unique routes and 104 booking origins — too granular to ignore, too sparse to treat casually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32A5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routes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32A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0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32A5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154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both fields turns 13 input features into 901 model columns — manageable at 49K rows, but a reminder to watch model complexity and interpretability.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Highest-Converting Origins (of top 10 by volume)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09360" y="196596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309360" y="4800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converts at 34.5% vs. Australia's 5.1% despite both being high-volume origins — geography matters more than volume.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Prediction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 trained on a stratified 80/20 split with a one-hot encoding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stratified on the 85/15 target to preserve class balance in both sets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163824" y="29260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D7E3F4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192024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9718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one-hot encodes 5 categorical columns; handle_unknown="ignore" protects against unseen categories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98464" y="29260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9718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RandomForestClassifier: 200 trees, random_state=42, n_jobs=-1 for parallel training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833104" y="292608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D7E3F4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1160" y="192024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811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9718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confirms the score is stable, not a lucky split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A1F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expands 13 features into 901 columns (39,424 training rows → 9,857 test rows) before the forest ever sees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&amp; What Drives Predictions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32A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84.9%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55848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32A5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55848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355848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63056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32A5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63056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47.9%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163056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70264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32A5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70264" y="10972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970264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Features Influencing Booking Completion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2880360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452360" y="2514600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132A5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68096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310896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features dominate —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lead, flight hour, and length of stay together outweigh every behavioral or geographic signal.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discriminates well, misses positives —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0.77 ROC-AUC is solid, but only 10.8% recall means most completed bookings are still missed.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the likely cause —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85/15, the default threshold favors the majority class. Class weighting, resampling, or threshold tuning are natural next steps.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2026-09-14T15:03:32Z</dcterms:created>
  <dcterms:modified xsi:type="dcterms:W3CDTF">2026-09-14T15:03:32Z</dcterms:modified>
</cp:coreProperties>
</file>